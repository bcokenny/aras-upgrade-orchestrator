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16139cd430457b" /><Relationship Type="http://schemas.openxmlformats.org/officeDocument/2006/relationships/extended-properties" Target="/docProps/app.xml" Id="Rd7a4aa5761c54b87" /><Relationship Type="http://schemas.openxmlformats.org/officeDocument/2006/relationships/officeDocument" Target="/ppt/presentation.xml" Id="R74ffd695c96842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bdc0b93c874255"/>
  </p:sldMasterIdLst>
  <p:notesMasterIdLst>
    <p:notesMasterId xmlns:r="http://schemas.openxmlformats.org/officeDocument/2006/relationships" r:id="Re3ea246c414b4b64"/>
  </p:notesMasterIdLst>
  <p:sldIdLst>
    <p:sldId xmlns:r="http://schemas.openxmlformats.org/officeDocument/2006/relationships" id="256" r:id="R1b6e3a810a374108"/>
    <p:sldId xmlns:r="http://schemas.openxmlformats.org/officeDocument/2006/relationships" id="257" r:id="R27caef7b52bf408d"/>
    <p:sldId xmlns:r="http://schemas.openxmlformats.org/officeDocument/2006/relationships" id="258" r:id="Rcac7bbcdc9e341ff"/>
    <p:sldId xmlns:r="http://schemas.openxmlformats.org/officeDocument/2006/relationships" id="259" r:id="R722104ee47a84955"/>
    <p:sldId xmlns:r="http://schemas.openxmlformats.org/officeDocument/2006/relationships" id="260" r:id="R5b074a3190d146ea"/>
    <p:sldId xmlns:r="http://schemas.openxmlformats.org/officeDocument/2006/relationships" id="261" r:id="Rf9a5a80b1db24c7d"/>
    <p:sldId xmlns:r="http://schemas.openxmlformats.org/officeDocument/2006/relationships" id="262" r:id="R00b1dec9e93d457a"/>
    <p:sldId xmlns:r="http://schemas.openxmlformats.org/officeDocument/2006/relationships" id="263" r:id="R96fd68bc4d1c46cb"/>
    <p:sldId xmlns:r="http://schemas.openxmlformats.org/officeDocument/2006/relationships" id="264" r:id="R9c6c0f824410487f"/>
    <p:sldId xmlns:r="http://schemas.openxmlformats.org/officeDocument/2006/relationships" id="265" r:id="Refa028ffd5a54591"/>
    <p:sldId xmlns:r="http://schemas.openxmlformats.org/officeDocument/2006/relationships" id="266" r:id="R10e2edb28cde45a0"/>
    <p:sldId xmlns:r="http://schemas.openxmlformats.org/officeDocument/2006/relationships" id="267" r:id="R12de17465cf6469d"/>
    <p:sldId xmlns:r="http://schemas.openxmlformats.org/officeDocument/2006/relationships" id="268" r:id="Rb7c4c99bcc014880"/>
    <p:sldId xmlns:r="http://schemas.openxmlformats.org/officeDocument/2006/relationships" id="269" r:id="Ra2a552b37b7749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897962462b4d39" /><Relationship Type="http://schemas.openxmlformats.org/officeDocument/2006/relationships/slideMaster" Target="/ppt/slideMasters/slideMaster1.xml" Id="Rb6bdc0b93c874255" /><Relationship Type="http://schemas.openxmlformats.org/officeDocument/2006/relationships/notesMaster" Target="/ppt/notesMasters/notesMaster1.xml" Id="Re3ea246c414b4b64" /><Relationship Type="http://schemas.openxmlformats.org/officeDocument/2006/relationships/presProps" Target="/ppt/presProps.xml" Id="R8033650fb3194a68" /><Relationship Type="http://schemas.openxmlformats.org/officeDocument/2006/relationships/tableStyles" Target="/ppt/tableStyles.xml" Id="Rbbe9886e9658482c" /><Relationship Type="http://schemas.openxmlformats.org/officeDocument/2006/relationships/slide" Target="/ppt/slides/slide1.xml" Id="R1b6e3a810a374108" /><Relationship Type="http://schemas.openxmlformats.org/officeDocument/2006/relationships/slide" Target="/ppt/slides/slide2.xml" Id="R27caef7b52bf408d" /><Relationship Type="http://schemas.openxmlformats.org/officeDocument/2006/relationships/slide" Target="/ppt/slides/slide3.xml" Id="Rcac7bbcdc9e341ff" /><Relationship Type="http://schemas.openxmlformats.org/officeDocument/2006/relationships/slide" Target="/ppt/slides/slide4.xml" Id="R722104ee47a84955" /><Relationship Type="http://schemas.openxmlformats.org/officeDocument/2006/relationships/slide" Target="/ppt/slides/slide5.xml" Id="R5b074a3190d146ea" /><Relationship Type="http://schemas.openxmlformats.org/officeDocument/2006/relationships/slide" Target="/ppt/slides/slide6.xml" Id="Rf9a5a80b1db24c7d" /><Relationship Type="http://schemas.openxmlformats.org/officeDocument/2006/relationships/slide" Target="/ppt/slides/slide7.xml" Id="R00b1dec9e93d457a" /><Relationship Type="http://schemas.openxmlformats.org/officeDocument/2006/relationships/slide" Target="/ppt/slides/slide8.xml" Id="R96fd68bc4d1c46cb" /><Relationship Type="http://schemas.openxmlformats.org/officeDocument/2006/relationships/slide" Target="/ppt/slides/slide9.xml" Id="R9c6c0f824410487f" /><Relationship Type="http://schemas.openxmlformats.org/officeDocument/2006/relationships/slide" Target="/ppt/slides/slide10.xml" Id="Refa028ffd5a54591" /><Relationship Type="http://schemas.openxmlformats.org/officeDocument/2006/relationships/slide" Target="/ppt/slides/slide11.xml" Id="R10e2edb28cde45a0" /><Relationship Type="http://schemas.openxmlformats.org/officeDocument/2006/relationships/slide" Target="/ppt/slides/slide12.xml" Id="R12de17465cf6469d" /><Relationship Type="http://schemas.openxmlformats.org/officeDocument/2006/relationships/slide" Target="/ppt/slides/slide13.xml" Id="Rb7c4c99bcc014880" /><Relationship Type="http://schemas.openxmlformats.org/officeDocument/2006/relationships/slide" Target="/ppt/slides/slide14.xml" Id="Ra2a552b37b7749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d2069757984f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85509cef3d443a" /><Relationship Type="http://schemas.openxmlformats.org/officeDocument/2006/relationships/notesMaster" Target="/ppt/notesMasters/notesMaster1.xml" Id="Ra11e4977440449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589b5771734907" /><Relationship Type="http://schemas.openxmlformats.org/officeDocument/2006/relationships/notesMaster" Target="/ppt/notesMasters/notesMaster1.xml" Id="Rd5356eeb6d4440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283495a785461e" /><Relationship Type="http://schemas.openxmlformats.org/officeDocument/2006/relationships/notesMaster" Target="/ppt/notesMasters/notesMaster1.xml" Id="R3c7bea7de48848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524041631e4212" /><Relationship Type="http://schemas.openxmlformats.org/officeDocument/2006/relationships/notesMaster" Target="/ppt/notesMasters/notesMaster1.xml" Id="R1e3dbfe0b1a54e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1c9b9a13b84571" /><Relationship Type="http://schemas.openxmlformats.org/officeDocument/2006/relationships/notesMaster" Target="/ppt/notesMasters/notesMaster1.xml" Id="R10e4090b053441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d6fb4f9f3d4877" /><Relationship Type="http://schemas.openxmlformats.org/officeDocument/2006/relationships/notesMaster" Target="/ppt/notesMasters/notesMaster1.xml" Id="R67a90c89609442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ec861168c645ad" /><Relationship Type="http://schemas.openxmlformats.org/officeDocument/2006/relationships/notesMaster" Target="/ppt/notesMasters/notesMaster1.xml" Id="R12929b35e9d94d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cd0ee818064132" /><Relationship Type="http://schemas.openxmlformats.org/officeDocument/2006/relationships/notesMaster" Target="/ppt/notesMasters/notesMaster1.xml" Id="Ra01a69f4340c4a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68e77afe0c4483" /><Relationship Type="http://schemas.openxmlformats.org/officeDocument/2006/relationships/notesMaster" Target="/ppt/notesMasters/notesMaster1.xml" Id="R76523e8fe7844e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addcdfcd60491b" /><Relationship Type="http://schemas.openxmlformats.org/officeDocument/2006/relationships/notesMaster" Target="/ppt/notesMasters/notesMaster1.xml" Id="R9bb0ccb8157b47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eb703dd9554f82" /><Relationship Type="http://schemas.openxmlformats.org/officeDocument/2006/relationships/notesMaster" Target="/ppt/notesMasters/notesMaster1.xml" Id="R0fbb7670072342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d85d320c6c4cff" /><Relationship Type="http://schemas.openxmlformats.org/officeDocument/2006/relationships/notesMaster" Target="/ppt/notesMasters/notesMaster1.xml" Id="Ra72c270f5e6940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b47a66c7f942ab" /><Relationship Type="http://schemas.openxmlformats.org/officeDocument/2006/relationships/notesMaster" Target="/ppt/notesMasters/notesMaster1.xml" Id="R44d32ec7acfd41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39b9e64cc14b38" /><Relationship Type="http://schemas.openxmlformats.org/officeDocument/2006/relationships/notesMaster" Target="/ppt/notesMasters/notesMaster1.xml" Id="R72537e8776d741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本簡報依需求訪談內容、Core Tree 程序文件與芯洲案件正式產出整理。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架構依使用者提供之流程圖與專案 ADR 0004：Core Tree 與 Package／DB 跳點分離。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來源：使用者提供的需求訪談大綱。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來源：docs/operations/core-tree/procedure-map.md。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來源：芯洲案件正式 CLI 執行結果。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A：377 個自動分類檔案，加上 1 個人工 review 決策為 A；B：15×2；C：18×3；總數 462。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來源：docs/operations/core-tree/procedure-map.md。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f86be7c91a49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b38a9038f142e6" /><Relationship Type="http://schemas.openxmlformats.org/officeDocument/2006/relationships/slideLayout" Target="/ppt/slideLayouts/slideLayout1.xml" Id="R721bab38c4aa45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1bab38c4aa45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7091fad6d47ad" /><Relationship Type="http://schemas.openxmlformats.org/officeDocument/2006/relationships/notesSlide" Target="/ppt/notesSlides/notesSlide1.xml" Id="Rc4c68852c2794c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85d7320d6408f" /><Relationship Type="http://schemas.openxmlformats.org/officeDocument/2006/relationships/notesSlide" Target="/ppt/notesSlides/notesSlide2.xml" Id="R2b4e99a447d541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3c4e328e34f33" /><Relationship Type="http://schemas.openxmlformats.org/officeDocument/2006/relationships/notesSlide" Target="/ppt/notesSlides/notesSlide3.xml" Id="Radd78b6980a445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27f806c904976" /><Relationship Type="http://schemas.openxmlformats.org/officeDocument/2006/relationships/notesSlide" Target="/ppt/notesSlides/notesSlide4.xml" Id="R88532b4e957748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aa4314c7a45e3" /><Relationship Type="http://schemas.openxmlformats.org/officeDocument/2006/relationships/notesSlide" Target="/ppt/notesSlides/notesSlide5.xml" Id="R48b5ef32171443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a0baca6f243a3" /><Relationship Type="http://schemas.openxmlformats.org/officeDocument/2006/relationships/notesSlide" Target="/ppt/notesSlides/notesSlide6.xml" Id="Rf128099f83ab44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d4f73325645c3" /><Relationship Type="http://schemas.openxmlformats.org/officeDocument/2006/relationships/notesSlide" Target="/ppt/notesSlides/notesSlide7.xml" Id="R5c35325d846347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4a0c76bb742aa" /><Relationship Type="http://schemas.openxmlformats.org/officeDocument/2006/relationships/notesSlide" Target="/ppt/notesSlides/notesSlide8.xml" Id="R666a47fcc2004b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270582249409a" /><Relationship Type="http://schemas.openxmlformats.org/officeDocument/2006/relationships/notesSlide" Target="/ppt/notesSlides/notesSlide9.xml" Id="Rde950c8bc1da46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a52f153a84ddc" /><Relationship Type="http://schemas.openxmlformats.org/officeDocument/2006/relationships/notesSlide" Target="/ppt/notesSlides/notesSlide10.xml" Id="Recf1ac97384547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caa9e39374950" /><Relationship Type="http://schemas.openxmlformats.org/officeDocument/2006/relationships/notesSlide" Target="/ppt/notesSlides/notesSlide11.xml" Id="R83c695bb4aaa40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740ed0be44120" /><Relationship Type="http://schemas.openxmlformats.org/officeDocument/2006/relationships/notesSlide" Target="/ppt/notesSlides/notesSlide12.xml" Id="Raedc668a888541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3f8e795404e93" /><Relationship Type="http://schemas.openxmlformats.org/officeDocument/2006/relationships/notesSlide" Target="/ppt/notesSlides/notesSlide13.xml" Id="Ra59525aff88946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40b4af1a24cdd" /><Relationship Type="http://schemas.openxmlformats.org/officeDocument/2006/relationships/notesSlide" Target="/ppt/notesSlides/notesSlide14.xml" Id="R4c00ca56d29d4c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9D354-9538-4D27-8BE0-89E61AA3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952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87"/>
          </a:solidFill>
          <a:ln xmlns:a="http://schemas.openxmlformats.org/drawingml/2006/main" w="0">
            <a:solidFill>
              <a:srgbClr val="2D8C8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A4922-64CE-4947-9CC5-34A44647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811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階段性開發成果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A0477-E98F-4146-8BA4-469BA324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DEC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DECF2"/>
                </a:solidFill>
                <a:latin typeface="Microsoft JhengHei"/>
                <a:ea typeface="Microsoft JhengHei"/>
                <a:cs typeface="Microsoft JhengHei"/>
              </a:rPr>
              <a:t>客戶環境升級與 Core Tree 整合交付流程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F8705-E666-4358-9CF1-CA2362AC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rPr>
              <a:t>芯洲  |  11.0 SP9 → R38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4194A-880C-4F94-8D26-36D04979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報告人：BCO\Kenny、Benjamin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FD7F5-8CF7-4723-A071-7C47AC74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72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rPr>
              <a:t>2026-09</a:t>
            </a:r>
          </a:p>
        </p:txBody>
      </p:sp>
    </p:spTree>
    <p:extLst>
      <p:ext uri="{BB962C8B-B14F-4D97-AF65-F5344CB8AC3E}">
        <p14:creationId xmlns:p14="http://schemas.microsoft.com/office/powerpoint/2010/main" val="282038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80C8FE-E007-42AE-9FDF-45226607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整體升級架構與目前開發範圍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2B312-A772-4C27-B83A-95BE65A0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左側為後續 Package／DB 升級工作流；右側為本階段已完成的 Core Tree 比較與交付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92230-2A8A-4137-A59B-2FBFF39D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647700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0">
            <a:solidFill>
              <a:srgbClr val="F7F9F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4472B-28B1-4123-BDCF-77EF99C9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A9AA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A9AA4"/>
                </a:solidFill>
                <a:latin typeface="Microsoft JhengHei"/>
                <a:ea typeface="Microsoft JhengHei"/>
                <a:cs typeface="Microsoft JhengHei"/>
              </a:rPr>
              <a:t>Package／DB 升級工作流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A0F54-6511-4AE9-BC28-9D1D5A5B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47875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EAF2"/>
          </a:solidFill>
          <a:ln xmlns:a="http://schemas.openxmlformats.org/drawingml/2006/main" w="0">
            <a:solidFill>
              <a:srgbClr val="DDEAF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EDD6F-5450-45C4-83F0-4FF1CAA5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907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重建客戶環境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CB4E3-25DF-4758-95DF-3EA50C82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05125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EAF2"/>
          </a:solidFill>
          <a:ln xmlns:a="http://schemas.openxmlformats.org/drawingml/2006/main" w="0">
            <a:solidFill>
              <a:srgbClr val="DDEAF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50788-B258-40F5-956B-5BDE560A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0480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產生客戶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E3B94-1274-4E48-8F5E-90FFCE7A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62375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EAF2"/>
          </a:solidFill>
          <a:ln xmlns:a="http://schemas.openxmlformats.org/drawingml/2006/main" w="0">
            <a:solidFill>
              <a:srgbClr val="DDEAF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534AC-E955-4EA9-A22F-A6DA62F2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9052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比較／產生升級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25992-4E69-4252-BB66-628F48A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0">
            <a:solidFill>
              <a:srgbClr val="FFF1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C1DC2-76EE-473C-9DDA-949A0812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907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rPr>
              <a:t>11SP5 → 11SP15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17998-8532-444B-8459-E996A91C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0">
            <a:solidFill>
              <a:srgbClr val="FFF1D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0D335-34FE-43F4-B2EC-EECC4CBB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480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rPr>
              <a:t>11SP15 → 12SP18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25B89-4F97-4FED-BA2D-8F43D72B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0">
            <a:solidFill>
              <a:srgbClr val="FFF1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F3E78-3DCB-483A-9959-F5983846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052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rPr>
              <a:t>12SP18 → R38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B5C2B-316A-4BF3-BB6F-B54EB498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53000"/>
            <a:ext cx="1666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6A23C"/>
          </a:solidFill>
          <a:ln xmlns:a="http://schemas.openxmlformats.org/drawingml/2006/main" w="0">
            <a:solidFill>
              <a:srgbClr val="E6A23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02B35-B24E-448A-A9CB-D84CA05E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R38 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641AB-0ECD-4C25-B617-39C40863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0055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每一跳須先完成 Package 產生、驗證、核准與執行確認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33A09-4778-4447-83CB-4C3A9F2C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285875"/>
            <a:ext cx="4286250" cy="4524375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0">
            <a:solidFill>
              <a:srgbClr val="EEF8F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A39B8-858C-470F-A51C-9F759141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04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本階段已完成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309B4-90F3-400C-9041-D5AE7C1C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048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D8C87"/>
          </a:solidFill>
          <a:ln xmlns:a="http://schemas.openxmlformats.org/drawingml/2006/main" w="0">
            <a:solidFill>
              <a:srgbClr val="2D8C8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5C4A2D-4D56-48E5-91DF-BBDE0447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客戶 Core Tree + R38 OOTB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2A85A-E9EF-4BEE-AFAC-26BD1DB9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solidFill>
              <a:srgbClr val="12304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37D18D-4FE5-4731-9C0D-67317DFE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比較及分類 Core Tree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A／B／C + Manual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AA81C8-72B4-4641-BDE0-CFCE1B30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D8C87"/>
          </a:solidFill>
          <a:ln xmlns:a="http://schemas.openxmlformats.org/drawingml/2006/main" w="0">
            <a:solidFill>
              <a:srgbClr val="2D8C8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1B1D4-2CC2-44FA-9754-7FC43B1C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Completion receipt + A／B／C delivery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B30A5-C090-44F6-8B2E-AED4C10B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054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Core Tree 與 Package／DB 分流準備，最終交付階段整合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73314-1213-4AE9-8956-C76E6962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2/14</a:t>
            </a:r>
          </a:p>
        </p:txBody>
      </p:sp>
    </p:spTree>
    <p:extLst>
      <p:ext uri="{BB962C8B-B14F-4D97-AF65-F5344CB8AC3E}">
        <p14:creationId xmlns:p14="http://schemas.microsoft.com/office/powerpoint/2010/main" val="5802417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128E1-63AA-4CFA-8CF4-62782D18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需求訪談形成的規格範圍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9F07B-7B71-4D27-94A2-36F170EC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標準化從來源版本到 R38 的升級、比較與最終交付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4AFF4-D8C4-4363-B809-7CBAB17E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143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2F7F9"/>
          </a:solidFill>
          <a:ln xmlns:a="http://schemas.openxmlformats.org/drawingml/2006/main" w="0">
            <a:solidFill>
              <a:srgbClr val="F2F7F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C8F78-FB5E-4BCF-A156-E16DB431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規格重點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7F7EF-E31D-4B28-8206-9701CBD6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B9AD1-069A-4317-81F8-39F5B6CF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來源版本、目標版本與必要跳點可追溯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79EBD-0A1E-4189-8E6B-5F8BA8FA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BA600-9449-4AFF-8879-C47A8351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每一跳先完成 Package 產生、驗證與核准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D76D4-8D94-4E9C-9A72-B9CAA167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30E04-19D3-4A51-A26D-4D418974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跳點依版本順序執行，不可跨越或倒置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A1AD2-D375-4BE7-B469-5843383C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CAF9D-C25F-423F-A3B4-D7B5AE96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最終交付同時具備已驗證 R38 DB 與 R38 Core Tree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F9129-AEF1-4DFC-BE77-ACCB562D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33500"/>
            <a:ext cx="5381625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0">
            <a:solidFill>
              <a:srgbClr val="EEF8F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3A56A-E7E4-4364-A1C8-0C6057E7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關卡與產出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37CFB-C1AE-430F-B912-ECD00594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DB49E-C8D9-4224-A278-AEAC27B3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跳點執行紀錄、登入驗證與 DB 備份證據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CB9F7-140E-4863-9C29-94B2FEBF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337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C63F9-795B-4C6A-8BC5-B458705D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3370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Core Tree 差異檢查、人工確認與 A／B／C 交付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08BBD1-A10B-4F0F-8CFB-0ED5DCDB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25E540-48E3-45BC-99CD-DD686A54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766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最終交付摘要、checksum 與例外處理紀錄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481FD-9C7F-484A-91C9-9A77A597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3/14</a:t>
            </a:r>
          </a:p>
        </p:txBody>
      </p:sp>
    </p:spTree>
    <p:extLst>
      <p:ext uri="{BB962C8B-B14F-4D97-AF65-F5344CB8AC3E}">
        <p14:creationId xmlns:p14="http://schemas.microsoft.com/office/powerpoint/2010/main" val="315948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E99F8C-56D5-4E23-8474-31BBFAC2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本階段完成的 Core Tree 比較程序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89A19-AB82-47A1-AC38-BAC33883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從目錄骨架、輸入證據到正式 A／B／C delivery，保留完整可追溯證據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59B43-E193-460C-805F-0E9766AA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1219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B6F9E"/>
          </a:solidFill>
          <a:ln xmlns:a="http://schemas.openxmlformats.org/drawingml/2006/main" w="0">
            <a:solidFill>
              <a:srgbClr val="2B6F9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AF364-1988-4E47-B404-6529D23D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CA2A1-D15D-45E9-A4C8-D4EFB9F0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目錄骨架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9C623-A0BA-4DE9-860B-3F866C23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8605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solidFill>
              <a:srgbClr val="D7E2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24E14-1C12-43F3-B5C7-2ABBD04C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38375"/>
            <a:ext cx="1219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B6F9E"/>
          </a:solidFill>
          <a:ln xmlns:a="http://schemas.openxmlformats.org/drawingml/2006/main" w="0">
            <a:solidFill>
              <a:srgbClr val="2B6F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C0BC0-639C-40E3-893A-8815ECC2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2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D141E-F4C7-4997-ADDA-1D18C11F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67000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三份 Tree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9F29B-257D-46B6-8657-31AF9395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8605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solidFill>
              <a:srgbClr val="D7E2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51919-2F6E-4FB7-B9F7-CBC4E8EC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38375"/>
            <a:ext cx="1219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B6F9E"/>
          </a:solidFill>
          <a:ln xmlns:a="http://schemas.openxmlformats.org/drawingml/2006/main" w="0">
            <a:solidFill>
              <a:srgbClr val="2B6F9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B4AD8-A66D-4AAF-83B9-640B248B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52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70319-5599-4739-A7B4-2447E38A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Preview/Write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79034-9F6C-41B7-9426-36F9FCA3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solidFill>
              <a:srgbClr val="D7E2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50702-BEEA-4435-83B8-A8BB3C5D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1219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B6F9E"/>
          </a:solidFill>
          <a:ln xmlns:a="http://schemas.openxmlformats.org/drawingml/2006/main" w="0">
            <a:solidFill>
              <a:srgbClr val="2B6F9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2DF1E-F349-491A-91BA-CA154D26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52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F1DDF-292D-48F6-978A-FA042D5E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正式案件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D6CB4-A572-42A7-B18F-79FC6AED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solidFill>
              <a:srgbClr val="D7E2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94741-A489-4218-8818-B7EC5830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38375"/>
            <a:ext cx="1219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D8C87"/>
          </a:solidFill>
          <a:ln xmlns:a="http://schemas.openxmlformats.org/drawingml/2006/main" w="0">
            <a:solidFill>
              <a:srgbClr val="2D8C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5E5C9-7DB9-49F8-B8D5-EAD939FC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DBF16-27A8-4709-8A37-2968F348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Preflight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與比較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4E9D8-8B1B-452F-AA8E-9B03379E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8605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solidFill>
              <a:srgbClr val="D7E2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C9CA93-95B6-4A08-BF4E-1838EA5C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38375"/>
            <a:ext cx="1219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D8C87"/>
          </a:solidFill>
          <a:ln xmlns:a="http://schemas.openxmlformats.org/drawingml/2006/main" w="0">
            <a:solidFill>
              <a:srgbClr val="2D8C8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22718-AAFD-4BA6-9327-B177EFA2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52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EB92C4-4C05-41FD-BF99-4A9E3F49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67000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Manual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A3CC19-6593-40EA-91E5-7386E70C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8605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solidFill>
              <a:srgbClr val="D7E2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AA4AF7-8239-4150-ACC6-6B057815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38375"/>
            <a:ext cx="1219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D8C87"/>
          </a:solidFill>
          <a:ln xmlns:a="http://schemas.openxmlformats.org/drawingml/2006/main" w="0">
            <a:solidFill>
              <a:srgbClr val="2D8C8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3A2E15-6145-44D6-9E3C-2C285902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52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28A234-CF3A-403A-9C18-5BDAC4FD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Approval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Finalization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0BA698-1A50-414E-84A5-B86E2D3E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86050"/>
            <a:ext cx="19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8"/>
          </a:solidFill>
          <a:ln xmlns:a="http://schemas.openxmlformats.org/drawingml/2006/main" w="0">
            <a:solidFill>
              <a:srgbClr val="D7E2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F89F36-7ED7-4548-BF62-E21DA4C2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38375"/>
            <a:ext cx="1219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2D8C87"/>
          </a:solidFill>
          <a:ln xmlns:a="http://schemas.openxmlformats.org/drawingml/2006/main" w="0">
            <a:solidFill>
              <a:srgbClr val="2D8C8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C1E780-F3A1-448A-8E59-884879A4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52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FD88EC-60E1-4D8F-BF49-5CF73370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67000"/>
            <a:ext cx="102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A／B／C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Delivery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69F1EB-EE31-4DF3-8D90-9BC0370B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906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0">
            <a:solidFill>
              <a:srgbClr val="FFF8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68C493-B17D-40BF-82F2-706F635F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624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rPr>
              <a:t>關鍵管制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65E5A4-66BF-495E-A853-7BBC749B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624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輸入 Tree 與 Evidence 唯讀；每次 comparison、completion、delivery 使用新目錄；history 只追加。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56D57A-F77D-414A-AB01-8ABECC98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4/14</a:t>
            </a:r>
          </a:p>
        </p:txBody>
      </p:sp>
    </p:spTree>
    <p:extLst>
      <p:ext uri="{BB962C8B-B14F-4D97-AF65-F5344CB8AC3E}">
        <p14:creationId xmlns:p14="http://schemas.microsoft.com/office/powerpoint/2010/main" val="18167692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F64E1B-B1C1-47B2-8C57-DB14630C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目前開發成果與正式產出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2AB2B-4EB3-4D0B-9315-ABEE5A08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芯洲案件完成 Core Tree comparison、review approval、finalization 與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08D7C-D4CD-4AAB-8EC8-05F2273A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3048000" cy="3714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solidFill>
              <a:srgbClr val="1230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42AE9-4BDE-4790-8203-56860CCC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已完成關卡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9050A-319F-47BC-B52B-E417B43A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Preflight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66132-90E4-44A4-A93F-6967F5A1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57577-44D7-43E8-B4A3-B34A2202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Manual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A9A17-1BA9-4BD9-B97E-3841D6C6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Review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A02F8-4FE0-403C-B651-B1FF9BAD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6675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Finalization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6E41E-8B6E-45C3-A216-C1971556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C9E9E5"/>
                </a:solidFill>
                <a:latin typeface="Microsoft JhengHei"/>
                <a:ea typeface="Microsoft JhengHei"/>
                <a:cs typeface="Microsoft JhengHei"/>
              </a:rPr>
              <a:t>A／B／C delivery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8D278-BA76-403C-9BF2-2777AB1D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81125"/>
            <a:ext cx="7429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2F7F9"/>
          </a:solidFill>
          <a:ln xmlns:a="http://schemas.openxmlformats.org/drawingml/2006/main" w="0">
            <a:solidFill>
              <a:srgbClr val="F2F7F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537FA-4B71-473A-92E8-48B440F9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比較結果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A8BDA-3155-45AC-ACBC-6751FD39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3362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377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62E3B-1530-432F-8E57-6E7DA026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90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A 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EBCDD-30B4-48A3-9F57-54796A9A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33362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F1C5A-B05A-42B3-95DF-276959B7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90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B 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20632-C9B2-4704-B9BC-C5EF2187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E32EF-2155-4F20-9A9A-2CBFF18B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95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 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0EA12-5985-4C1C-985A-374A2F5C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23850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160FD-799D-4B9C-90D7-52F583B2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95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人工確認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282C5-6150-4B68-8BDB-7BD65F00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comparison attempt：1 筆  |  completion receipt：1 份  |  delivery：1 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16040-C513-407B-8A4A-A3C0E10D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5/14</a:t>
            </a:r>
          </a:p>
        </p:txBody>
      </p:sp>
    </p:spTree>
    <p:extLst>
      <p:ext uri="{BB962C8B-B14F-4D97-AF65-F5344CB8AC3E}">
        <p14:creationId xmlns:p14="http://schemas.microsoft.com/office/powerpoint/2010/main" val="1432710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51AF0-A4B3-417C-A0BA-A5701710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A／B／C delivery 的交付內容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773D6-21A3-4792-8FE5-932378B1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交付目錄保留來源檔案 bytes 與 SHA-256，主管可直接檢視交付規模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DCDAD-C33C-48E4-96E4-CE52A9AC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2F7F9"/>
          </a:solidFill>
          <a:ln xmlns:a="http://schemas.openxmlformats.org/drawingml/2006/main" w="0">
            <a:solidFill>
              <a:srgbClr val="F2F7F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B7735-7EDD-414A-BECC-72D36F62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61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A 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650A7-520B-4B18-8D07-F0319D6C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47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378 個檔案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22A86-061D-44C1-A80A-42FACA4E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809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客戶新增檔案</a:t>
            </a:r>
          </a:p>
          <a:p xmlns:a="http://schemas.openxmlformats.org/drawingml/2006/main"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CustomerSource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44750-CE4C-4FE6-A9AA-A4A2D990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6687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0">
            <a:solidFill>
              <a:srgbClr val="FFF8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410A8-9BE7-4E44-96EA-645347AB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43100"/>
            <a:ext cx="161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rPr>
              <a:t>B 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B3B09-127F-476B-9D5C-D2001462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76500"/>
            <a:ext cx="247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30 個檔案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0B9B6-6512-4471-BFE5-DD94DE99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2809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15 項差異 × 客戶／來源 OOTB</a:t>
            </a:r>
          </a:p>
          <a:p xmlns:a="http://schemas.openxmlformats.org/drawingml/2006/main"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CustomerSource + OOTBSource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A02B5-3A68-449E-B5CA-F333A431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0">
            <a:solidFill>
              <a:srgbClr val="EEF8F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CF653-118B-4CC7-BACA-FD0FB0AB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161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C 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6D25C-4B7B-4C18-B98E-86C07C1C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247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54 個檔案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BEC64-CC59-402A-A8CF-32A7203F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2809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18 項差異 × 客戶／來源 OOTB／R38</a:t>
            </a:r>
          </a:p>
          <a:p xmlns:a="http://schemas.openxmlformats.org/drawingml/2006/main">
            <a:pPr>
              <a:def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CustomerSource + OOTBSource + OOTBR38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229A6-FB89-49C5-B02B-C3216ED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858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solidFill>
              <a:srgbClr val="12304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D3D6B-8A17-48C0-A49B-9FFA4A8A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038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正式 delivery：462 個檔案  |  delivery-manifest.json 保存每個交付檔案的 SHA-256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B4A8C-9784-4A39-B392-806B6FCB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6/14</a:t>
            </a:r>
          </a:p>
        </p:txBody>
      </p:sp>
    </p:spTree>
    <p:extLst>
      <p:ext uri="{BB962C8B-B14F-4D97-AF65-F5344CB8AC3E}">
        <p14:creationId xmlns:p14="http://schemas.microsoft.com/office/powerpoint/2010/main" val="2099877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12D1F7A-C8BC-4907-B82B-97741E55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Core Tree 程序對照表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B3EC4-9F57-4F6A-A3DF-E01C2575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程序、對應 Markdown、Codex Prompt 與主要產出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7D0AE-2D55-4D32-8A88-713F657E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85875"/>
            <a:ext cx="52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solidFill>
              <a:srgbClr val="1230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2DA64-F6A2-4A9C-A277-5C62D6E9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371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順序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02014-335E-416A-ABF0-410DFCEB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8587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solidFill>
              <a:srgbClr val="1230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326AF-9848-4DA3-8B01-6BB6D4D7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11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程序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54782-5ED2-4AFB-88AC-3657F434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28587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solidFill>
              <a:srgbClr val="12304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DCDE1-2000-4B4C-9F92-957D0FA1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3811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對應 Markdown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42329-1464-4D9F-B4B9-8C25619C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85875"/>
            <a:ext cx="2905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solidFill>
              <a:srgbClr val="12304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CA8A3-912B-43DA-9AC3-A966D20E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81125"/>
            <a:ext cx="2752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Codex Prompt 範例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749E6-2258-45BF-93E7-119C38C1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85875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solidFill>
              <a:srgbClr val="12304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F6F5D-334C-435C-9A28-F65444E7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主要產出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E2FD4-47DF-4B9B-A643-952A58D6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80AB3-40C6-4196-BF72-E416EF95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371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21544-8DAB-4E1F-9398-9A62CDEB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81175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建立目錄骨架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4B24B-8D56-413B-A152-3ACDD1C8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781175"/>
            <a:ext cx="251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codex-case-scaffold-prompt.md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34375-D2CA-4760-8415-0A8E9B6E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81175"/>
            <a:ext cx="275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DIRECTORY_SCAFFOLD_ONLY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7B78F-C6D7-45B0-961C-62F731A6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81175"/>
            <a:ext cx="2324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案件目錄與非正式範本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37D19-5B8A-46B9-ACB0-BA9D7E81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9"/>
          </a:solidFill>
          <a:ln xmlns:a="http://schemas.openxmlformats.org/drawingml/2006/main" w="0">
            <a:solidFill>
              <a:srgbClr val="F2F7F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D28FB-4525-41BB-9386-CBBD5265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371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7E660-4687-43F4-98EF-B057D7BF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24100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產生 Core Tree 輸入證據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3F4E0-260D-4F51-90EF-DB9C3827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24100"/>
            <a:ext cx="251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codex-core-tree-evidence-prompt.md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8DB1D-62A0-4B5C-99B3-5619F7E2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24100"/>
            <a:ext cx="275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EVIDENCE_PREVIEW → EVIDENCE_WRITE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4268C-1170-4307-8D84-E9C2E3C3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24100"/>
            <a:ext cx="2324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三組 Evidence 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7B563-F354-4D94-A21B-A6C6A57F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71775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ADA8F-467B-4D4B-8D2E-EE2DE46B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371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F7CE9-CDAE-4219-8C2D-EB2012A5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67025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建立正式 Core Tree 案件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A80B58-02E2-4006-8E1F-47577B86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867025"/>
            <a:ext cx="251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codex-formal-case-creation-prompt.md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D4EE2F-D8CD-4187-A468-D497BAA0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67025"/>
            <a:ext cx="275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案件建立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ABA8F3-E18D-4C53-9F3B-2307BB0E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67025"/>
            <a:ext cx="2324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aras-upgrade-case.json、GUID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AA64D8-0B8D-44A4-B4A1-7B242085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9"/>
          </a:solidFill>
          <a:ln xmlns:a="http://schemas.openxmlformats.org/drawingml/2006/main" w="0">
            <a:solidFill>
              <a:srgbClr val="F2F7F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63D849-E141-4A81-8C8F-3033CA7F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371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2665CF-357F-4A0A-9466-03F54A65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Core Tree preflight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ED4E43-D5CE-4FD8-B74A-E515905E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09950"/>
            <a:ext cx="251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runbook.md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FED33A-B31A-477D-88D8-94E5D962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09950"/>
            <a:ext cx="275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執行前置檢查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322457-42DD-493B-9298-51FD61C0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09950"/>
            <a:ext cx="2324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Ready／Blocked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BEB964-DBDB-44AB-A2E2-A42AF377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859980-D51B-47B3-8460-BCBC9B09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52875"/>
            <a:ext cx="371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D390E5-010F-46A7-A732-5733345F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52875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 Core Tree 比較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4F044A-9586-4CF1-A2B9-91F13864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952875"/>
            <a:ext cx="251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runbook.md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BC57FF-B189-4DC9-AC7B-12B20300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52875"/>
            <a:ext cx="275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 Core Tree 比較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F7D99C-7386-44AC-892C-98D667A5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52875"/>
            <a:ext cx="2324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attempt、A／B／C、review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8CBFEA-2DEE-4A45-9A55-BB369208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9"/>
          </a:solidFill>
          <a:ln xmlns:a="http://schemas.openxmlformats.org/drawingml/2006/main" w="0">
            <a:solidFill>
              <a:srgbClr val="F2F7F9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2E7189-54FF-4E07-8A30-1C33C3FB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371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252E07-2BE7-4A51-A1A4-B5FE602E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Review approval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A8DD8D-2A5A-4E5F-A1CF-118DD056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495800"/>
            <a:ext cx="251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manual-review-approval.md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0E8FE5-8F28-43EB-8016-53CE8DAE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95800"/>
            <a:ext cx="275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進行 review approval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2BA941-C14C-4142-B841-F566719F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95800"/>
            <a:ext cx="2324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manual-review-approval.json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4258B2-C2C3-43EA-952C-C6A2A54C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43475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94F15E-DD2F-4AF3-959F-D2D1C67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38725"/>
            <a:ext cx="371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0523E7-78AF-43EA-AC1D-327F295F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38725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Comparison finalization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3E02D4-4C75-483F-B68F-1B153C59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038725"/>
            <a:ext cx="251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finalization.md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D8292E-944A-48F9-8AD5-4205FA76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38725"/>
            <a:ext cx="275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進行 finalization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0DA5B2-C98A-4AAE-8C79-73100FF2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38725"/>
            <a:ext cx="2324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completion-manifest.json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9A0904-8D8A-4038-97EE-65030EDF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085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9"/>
          </a:solidFill>
          <a:ln xmlns:a="http://schemas.openxmlformats.org/drawingml/2006/main" w="0">
            <a:solidFill>
              <a:srgbClr val="F2F7F9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950CF9-3FFA-4BBE-ADB5-367D95A4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371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02A206-A864-4B37-B9B5-48DD5159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81650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建立正式 A／B／C delivery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CFECF9-FD67-4834-9D8E-4ADFD5FC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581650"/>
            <a:ext cx="251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delivery.md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268E38-8CE8-4800-8D72-086721F5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81650"/>
            <a:ext cx="2752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執行正式 --build-delivery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223325-6ED2-419D-9D31-0595EA0F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581650"/>
            <a:ext cx="2324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delivery-manifest.json 與交付檔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B5DEC0-B0AB-4192-B868-C6C09833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7/14</a:t>
            </a:r>
          </a:p>
        </p:txBody>
      </p:sp>
    </p:spTree>
    <p:extLst>
      <p:ext uri="{BB962C8B-B14F-4D97-AF65-F5344CB8AC3E}">
        <p14:creationId xmlns:p14="http://schemas.microsoft.com/office/powerpoint/2010/main" val="1688047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3DB94-FA6C-4066-91FC-0D897B40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1：建立目錄骨架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1DDC3-F6FD-496A-AE1E-A8260DD9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對應文件：codex-case-scaffold-prompt.md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40D7E-849A-4A14-900C-CDD19451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7061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F6F8F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E65E6-447F-424A-BB78-B790CC1B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14475"/>
            <a:ext cx="1036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請依 codex-case-scaffold-prompt.md 建立案件目錄骨架。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5B190-D774-4C94-99C0-F846D3FD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1036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ED053-0F81-406C-AD28-0FB21275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36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客戶代號：芯洲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66AE4-4C03-46FD-8143-AB688D9C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36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案件目錄名稱：芯洲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6785B-0D58-4596-BEA2-B3BDF745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036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案件根目錄：K:\70.ArasUpgradeCases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1CC59-E5F9-4BB9-A26E-E3B79932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036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來源版本：11.0 SP9    來源版本短名稱：11sp9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E1CB1-37A7-45B8-A305-088F4F7B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28925"/>
            <a:ext cx="1036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最終版本：R38        最終版本短名稱：r38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CEBBA-C1C4-4C9B-8416-967B83FC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036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操作者：BCO\kenny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110EA-18EB-413D-ADAA-D86932A5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7075"/>
            <a:ext cx="1036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執行模式：DIRECTORY_SCAFFOLD_ONLY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80994-9CA6-4611-B297-5D332327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36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BB2D2-891B-4D35-BCE4-E4A6F60F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5225"/>
            <a:ext cx="1036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只建立 Core Tree、Package／DB、案件管理目錄與非正式範本。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CA062-B561-40AD-9270-C5C5B03E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036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不得建立 aras-upgrade-case.json 或 .orchestrator\history.jsonl。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4CAF0-F3D1-4322-BEF2-41D6FC96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1036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不得執行 DB、Package Import、Core Tree preflight 或升級。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0E6D8-4B7F-42B1-8FB2-702DFFDB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7061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0">
            <a:solidFill>
              <a:srgbClr val="EEF8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F904A-06A0-4B1A-AB06-3FAC0C66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97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主要產出：案件目錄、Core Tree／Evidence／Package／DB 目錄與非正式範本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31A8D-8220-4062-9997-2FA11CE8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8/14</a:t>
            </a:r>
          </a:p>
        </p:txBody>
      </p:sp>
    </p:spTree>
    <p:extLst>
      <p:ext uri="{BB962C8B-B14F-4D97-AF65-F5344CB8AC3E}">
        <p14:creationId xmlns:p14="http://schemas.microsoft.com/office/powerpoint/2010/main" val="336307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A22BF6-AD08-4466-9CAA-BC675053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2–4：輸入、證據與正式案件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E5600-CC20-4F5C-832E-1A0E8FF6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依序完成 Core Tree 放置、Evidence Preview／Write、正式案件建立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33A78-D1F8-432C-BD87-9071EF58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5238750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F2F7F9"/>
          </a:solidFill>
          <a:ln xmlns:a="http://schemas.openxmlformats.org/drawingml/2006/main" w="0">
            <a:solidFill>
              <a:srgbClr val="F2F7F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55463-0A4A-4FF4-870D-8D151A06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2. 複製 Core Tree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FFF70-950F-4C36-A547-BB18BD0E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762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F6F8F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B87A6-2BAF-4ACB-BD53-06E1A60B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33600"/>
            <a:ext cx="4419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請由操作人員將三份 Core Tree 放入：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800EB-C19E-47B0-B935-9C3FE375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4419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BB757-0B8C-43FD-AF2A-EEBB7B15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419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...\customer-11sp9\tree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5BE74-7970-4D84-AC84-9433D5E0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0825"/>
            <a:ext cx="4419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...\ootb-11sp9\tree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79FEA-044F-4B26-82AF-FD4B54A7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4419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...\ootb-r38\tree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5EBDD-22C7-475C-8D99-B71BBB90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419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6D61D-3F0C-4736-9211-5DDE642F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4419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只確認檔案放置結果。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87CB9-F4F5-43E3-88EA-C3CF059E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67125"/>
            <a:ext cx="4419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不得由 Codex 自動複製、搬移、解析或修改 Tree。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1DA9F-85F6-46D1-A6CC-887B0846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3–4. 證據處理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AD4F4-3696-44B8-A4C6-ADFD9350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執行模式：EVIDENCE_PREVIEW</a:t>
            </a:r>
          </a:p>
          <a:p xmlns:a="http://schemas.openxmlformats.org/drawingml/2006/main">
            <a:pPr>
              <a:def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確認預覽後：EVIDENCE_WRITE</a:t>
            </a:r>
          </a:p>
          <a:p xmlns:a="http://schemas.openxmlformats.org/drawingml/2006/main">
            <a:pPr>
              <a:def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只建立 Missing 的四份 Evidence 文件，不覆寫既有文件。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7357A-CE0A-4424-9A56-A547422C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85875"/>
            <a:ext cx="5334000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0">
            <a:solidFill>
              <a:srgbClr val="EEF8F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E352B-36FA-447C-B818-C0095D49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240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5. 正式案件建立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69728-FC0C-4DCD-840E-0DC39254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48196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F6F8F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43281-D481-40D8-BB01-D53039DD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請依 codex-formal-case-creation-prompt.md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F40C7-6508-4B1A-A212-EE9746F2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5267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建立正式 Core Tree 工作流案件。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A3334-3BAC-455C-AD4E-626B4E0E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28513-28F7-44BA-BABB-356666A7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908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客戶代號：芯洲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E58634-3309-4C5E-85DF-EBAAA059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案件目錄名稱：芯洲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C212DD-A4AB-4586-9C67-F9BC1F29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2897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案件根目錄：K:\70.ArasUpgradeCases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B680FE-1BB1-4670-AFF1-0FA01E3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48050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來源版本：11.0 SP9 / 11sp9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0397E6-0519-4FD4-8856-8CD09A8E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最終版本：R38 / r38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60F04F-CEFA-4B83-A9E3-69E26717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操作者：BCO\kenny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DC1956-C7A1-4208-B319-F72E027B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5275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950987-BAB0-465B-9AD9-D53C3CCA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47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案件建立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966BEF-6817-4879-A9DD-AE0FD202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00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正式能力：--create-core-tree-case；不得手工建立或編輯 aras-upgrade-case.json。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F956E1-3211-49C8-8074-C7B3CC10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9/14</a:t>
            </a:r>
          </a:p>
        </p:txBody>
      </p:sp>
    </p:spTree>
    <p:extLst>
      <p:ext uri="{BB962C8B-B14F-4D97-AF65-F5344CB8AC3E}">
        <p14:creationId xmlns:p14="http://schemas.microsoft.com/office/powerpoint/2010/main" val="1132802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61A77-1270-4A01-B695-BB0BB6A9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6：Core Tree 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CB8D3-2EFF-4964-A7C1-DB86C458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對應文件：runbook.md；正式比較前必須通過唯讀 preflight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02AE6-AD56-4F53-BD2B-D093D35F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F6F8F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7CF5A-83C6-4069-ADBB-36AEF756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04975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請依正式案件清單執行 Core Tree 比較。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B480A-71C5-4C9C-BAE9-49D2C353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78A70-1A38-4962-926D-47CECF0A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案件根目錄：K:\70.ArasUpgradeCases\芯洲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5E3AE-33FB-4472-A0F6-892E2DAB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案件識別：芯洲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A5580-5675-430D-BE09-22E2A104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81275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操作者：BCO\kenny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3614D-B097-4860-8DD7-BEB59F3A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5B94C-4789-49E2-B665-BE2606DC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19425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先執行唯讀 preflight；只有 Ready 才執行正式比較。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4E1CB-BD43-40CC-881E-B9E3B1D9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使用新的 comparison attempt，不覆寫既有 attempt。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25B6A-0050-40C7-9043-B3E3FF1A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57575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不得修改三份輸入 Tree、Evidence 或 R38。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8DDA2-B6F5-4885-8833-1FB2CC5C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不得執行 DB、Package Import 或升級。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D7CE3-B482-4B51-9399-244C0C99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477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0">
            <a:solidFill>
              <a:srgbClr val="FFF8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7B3E1-D406-43FA-82D6-0F3F9F45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34025"/>
            <a:ext cx="1014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B5B00"/>
                </a:solidFill>
                <a:latin typeface="Microsoft JhengHei"/>
                <a:ea typeface="Microsoft JhengHei"/>
                <a:cs typeface="Microsoft JhengHei"/>
              </a:rPr>
              <a:t>主要產出：preflight 結果、comparison attempt、A／B／C 分類、manual-reviews.json 與 append-only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0E21E-8220-4048-81DD-05A358E4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10/14</a:t>
            </a:r>
          </a:p>
        </p:txBody>
      </p:sp>
    </p:spTree>
    <p:extLst>
      <p:ext uri="{BB962C8B-B14F-4D97-AF65-F5344CB8AC3E}">
        <p14:creationId xmlns:p14="http://schemas.microsoft.com/office/powerpoint/2010/main" val="5367792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95084-EA79-4871-8DBA-A2638B03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7–8：人工 Review、Approval 與 Finalization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2AD3B-B757-4321-800F-582AC698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人工決策與正式收據分離，原 comparison attempt 永不覆寫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1C597-852C-4838-8DF7-E6329A6E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5238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2F7F9"/>
          </a:solidFill>
          <a:ln xmlns:a="http://schemas.openxmlformats.org/drawingml/2006/main" w="0">
            <a:solidFill>
              <a:srgbClr val="F2F7F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68BBF-1F82-4286-BE84-BA883990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B6F9E"/>
                </a:solidFill>
                <a:latin typeface="Microsoft JhengHei"/>
                <a:ea typeface="Microsoft JhengHei"/>
                <a:cs typeface="Microsoft JhengHei"/>
              </a:rPr>
              <a:t>7. 人工更新 review register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37611-DB7D-4B7C-A444-37CE4C14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82917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F6F8F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80232-4D2D-49FF-A351-405DF0E3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4486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請由負責操作人員依 manual-reviews.json 檢視並手動更新：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3AA5F-4CC5-429C-8019-D3B39B50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47925"/>
            <a:ext cx="4486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55761-416B-4C95-B390-BB104B28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486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...\core-tree\attempts\&lt;attempt-id&gt;\manual-review-register.md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3237A-FC05-436A-8195-B13ABA5C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86075"/>
            <a:ext cx="4486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0C801-69C0-4C98-8F60-A5F33D71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486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每筆 review 填入合法 Decision、Approver、ISO 8601 Approved at，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7B025-ECED-45CC-AFD3-6634BD1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24225"/>
            <a:ext cx="4486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並標示 Resolved。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94519-0A92-4983-A2F0-E4BDF4C0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486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不得修改 Review ID、Relative path、Issue code 或 manual-reviews.json。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A2F16-2789-46E3-AAC3-FC5C0A58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334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0">
            <a:solidFill>
              <a:srgbClr val="EEF8F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95C04-C81C-4D17-8232-34EC5B8C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8. Review approval／finalization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BBCAF-F634-4F47-A77B-68F13D9A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48958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F6F8F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42D43-A0C6-4267-B918-5DDA4E6B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28850"/>
            <a:ext cx="455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請對目前 comparison attempt 執行正式 review approval／finalization。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3FDD2-EEB9-4330-A9E8-E8FC6099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47925"/>
            <a:ext cx="455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0D074-2FEA-4465-95D0-4782118B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455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所有 review row 必須為 Resolved 且 checksum 相符。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ED19D-B25A-4083-819B-ABE33FAA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86075"/>
            <a:ext cx="455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先使用 --approve-reviews，再使用 --finalize-comparison。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64438A-9D2E-4201-9DF3-70AEB9CA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455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不得覆寫原始 attempt。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D44DC-A0C3-4709-BCD9-86597E50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24225"/>
            <a:ext cx="455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不得手工建立 approval 或 completion receipt。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6C81B-E0D7-48E5-B6D6-E2B93304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672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主要產出：manual-review-approval.json、completion-manifest.json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09CCAB-F453-4D37-9E91-7CD93EB3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11/14</a:t>
            </a:r>
          </a:p>
        </p:txBody>
      </p:sp>
    </p:spTree>
    <p:extLst>
      <p:ext uri="{BB962C8B-B14F-4D97-AF65-F5344CB8AC3E}">
        <p14:creationId xmlns:p14="http://schemas.microsoft.com/office/powerpoint/2010/main" val="4934200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57F43-CFB1-4011-B0F4-FC1B82F6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Codex Prompt 9：正式 A／B／C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800F1-1354-4DEE-B75A-20C7EF79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對應文件：delivery.md；從已完成的 comparison completion receipt 建立新交付目錄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EA4B5-EF52-4EFE-B2DB-F2410CB5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F6F8F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ABD0F-BF08-46A6-B901-A27C7386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9725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請執行正式 --build-delivery，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BF524-D744-4253-A890-515E366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28800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使用已完成的 comparison completion receipt 建立新的 Core Tree A／B／C delivery。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330EA-7867-4D09-8650-C9878EE9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47875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5B8FA-7DBE-40B0-871F-250DDE18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要求：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A10FC-1F7B-488D-9C1F-28F2EDF3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86025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delivery output 必須是 core-tree\deliveries 下的新目錄；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5F21D-B5D5-4B01-BCCC-3F5796A9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customer、source OOTB、target OOTB 與 Server 規則輸入保持 immutable；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4AADB-BF53-4E50-8598-566BD1EE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24175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C 類只依 target path 改用交付檔名，原始 bytes 不轉換；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A47E1-BFD6-4443-8A22-88AA61A8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不覆寫既有 delivery；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8FF34-FC21-4F2B-A0DF-A90CF37C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62325"/>
            <a:ext cx="1013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63B47"/>
                </a:solidFill>
                <a:latin typeface="Microsoft JhengHei"/>
                <a:ea typeface="Microsoft JhengHei"/>
                <a:cs typeface="Microsoft JhengHei"/>
              </a:rPr>
              <a:t>- 不執行 DB、Package Import、Aras Export 或升級。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F9975-EE86-4777-AEEC-A162336A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0">
            <a:solidFill>
              <a:srgbClr val="EEF8F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C5470-BEF8-4C71-B275-637AB02C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721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主要產出：A／B／C 交付目錄、delivery-manifest.json、檔案 SHA-256 與 delivery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D96A5-4D52-47B6-9515-54F99558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12/14</a:t>
            </a:r>
          </a:p>
        </p:txBody>
      </p:sp>
    </p:spTree>
    <p:extLst>
      <p:ext uri="{BB962C8B-B14F-4D97-AF65-F5344CB8AC3E}">
        <p14:creationId xmlns:p14="http://schemas.microsoft.com/office/powerpoint/2010/main" val="1863201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360AC-E4AC-4BFB-8837-2B5675A9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047"/>
                </a:solidFill>
                <a:latin typeface="Microsoft JhengHei"/>
                <a:ea typeface="Microsoft JhengHei"/>
                <a:cs typeface="Microsoft JhengHei"/>
              </a:rPr>
              <a:t>主管檢視重點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38A73-8186-4FFF-A518-379139E9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目前已完成 Core Tree 工作流；Package／DB 升級維持獨立受控範圍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6AFFA-68F6-43C3-93F6-ECD205EC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51435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EEF8F7"/>
          </a:solidFill>
          <a:ln xmlns:a="http://schemas.openxmlformats.org/drawingml/2006/main" w="0">
            <a:solidFill>
              <a:srgbClr val="EEF8F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7A910-28BC-452B-9C7E-60EDAD49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已具備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E53DB-C227-4EBE-9F3D-74F22A46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ADAFC-AD04-47C3-84F5-6A6B4E0D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3362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正式案件、Evidence、comparison 與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D680E-3B51-43EE-BBA9-266EA07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CD915-7620-4E0C-9981-22AB6A0B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048000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人工 review approval 與 completion receipt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5BCB9-5E43-4393-846E-BE3F82BC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A79E1-704B-4431-BB13-ED3E4706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76237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可驗證 A／B／C delivery 與 checksum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623BD-633C-41CC-BCC8-362A3291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381625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0">
            <a:solidFill>
              <a:srgbClr val="FFF8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23243-416D-40C9-9242-F7CE9FA4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6A23C"/>
                </a:solidFill>
                <a:latin typeface="Microsoft JhengHei"/>
                <a:ea typeface="Microsoft JhengHei"/>
                <a:cs typeface="Microsoft JhengHei"/>
              </a:rPr>
              <a:t>後續關卡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A1E23-99C3-4791-90FB-5D56B1CF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8541D-4A3B-40D1-9476-D8118E4D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33625"/>
            <a:ext cx="427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確認 Package／DB 跳點與官方 SOP／Support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4D97E-E8CB-4DCF-8F67-F24CA6E0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EDF42-7524-45EA-BAB6-A6D91AF8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48000"/>
            <a:ext cx="427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每跳執行、登入驗證與 DB 備份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4593C-BFDC-4D29-9405-F5AEBA93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D8C87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BC2AA-73EC-40DE-A134-7516C362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62375"/>
            <a:ext cx="427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20313D"/>
                </a:solidFill>
                <a:latin typeface="Microsoft JhengHei"/>
                <a:ea typeface="Microsoft JhengHei"/>
                <a:cs typeface="Microsoft JhengHei"/>
              </a:rPr>
              <a:t>整合 R38 DB 與 R38 Core Tree 的最終交付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2C2B5-1F14-4858-8C32-52B428AD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C6E78"/>
                </a:solidFill>
                <a:latin typeface="Microsoft JhengHei"/>
                <a:ea typeface="Microsoft JhengHei"/>
                <a:cs typeface="Microsoft JhengHei"/>
              </a:rPr>
              <a:t>階段性開發成果  |  13/14</a:t>
            </a:r>
          </a:p>
        </p:txBody>
      </p:sp>
    </p:spTree>
    <p:extLst>
      <p:ext uri="{BB962C8B-B14F-4D97-AF65-F5344CB8AC3E}">
        <p14:creationId xmlns:p14="http://schemas.microsoft.com/office/powerpoint/2010/main" val="6600106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230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795DC-C46C-4241-A734-3B176221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本階段結論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1C5D3-23AF-48A8-876F-310FA56F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DEC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DDECF2"/>
                </a:solidFill>
                <a:latin typeface="Microsoft JhengHei"/>
                <a:ea typeface="Microsoft JhengHei"/>
                <a:cs typeface="Microsoft JhengHei"/>
              </a:rPr>
              <a:t>Core Tree 比較程序已形成可追溯、可核驗的正式交付能力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0B318-C7AF-49EC-BB5B-4CCE76CF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47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D8C87"/>
          </a:solidFill>
          <a:ln xmlns:a="http://schemas.openxmlformats.org/drawingml/2006/main" w="0">
            <a:solidFill>
              <a:srgbClr val="2D8C8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C83F5-EFD2-440D-AEAD-241A5C10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9982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正式鏈結：Evidence → Preflight → Comparison → Review approval → Finalization → A／B／C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8455B-1302-4E69-A395-E9DF3D94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BD5DF"/>
                </a:solidFill>
                <a:latin typeface="Microsoft JhengHei"/>
                <a:ea typeface="Microsoft JhengHei"/>
                <a:cs typeface="Microsoft JhengHei"/>
              </a:rPr>
              <a:t>下一階段：依相同治理原則展開 Package／DB 升級跳點流程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876C5-47C9-43BB-8EB6-1EC205F1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BCO\Kenny、Benjamin</a:t>
            </a:r>
          </a:p>
        </p:txBody>
      </p:sp>
    </p:spTree>
    <p:extLst>
      <p:ext uri="{BB962C8B-B14F-4D97-AF65-F5344CB8AC3E}">
        <p14:creationId xmlns:p14="http://schemas.microsoft.com/office/powerpoint/2010/main" val="2086600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2026-09-07T04:03:16.8000000Z</dcterms:created>
  <dcterms:modified xsi:type="dcterms:W3CDTF">2026-09-07T04:03:16.8000000Z</dcterms:modified>
</coreProperties>
</file>