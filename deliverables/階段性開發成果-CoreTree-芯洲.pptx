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995c488d54f483d" /><Relationship Type="http://schemas.openxmlformats.org/officeDocument/2006/relationships/extended-properties" Target="/docProps/app.xml" Id="Rbdb8a03f7f74412a" /><Relationship Type="http://schemas.openxmlformats.org/officeDocument/2006/relationships/officeDocument" Target="/ppt/presentation.xml" Id="Rc1d866b0e1d1433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ba8aa4a90254c57"/>
  </p:sldMasterIdLst>
  <p:notesMasterIdLst>
    <p:notesMasterId xmlns:r="http://schemas.openxmlformats.org/officeDocument/2006/relationships" r:id="Rd34a07eee8f34000"/>
  </p:notesMasterIdLst>
  <p:sldIdLst>
    <p:sldId xmlns:r="http://schemas.openxmlformats.org/officeDocument/2006/relationships" id="256" r:id="R6e2927323e08456b"/>
    <p:sldId xmlns:r="http://schemas.openxmlformats.org/officeDocument/2006/relationships" id="257" r:id="Rdeed495f33d344d0"/>
    <p:sldId xmlns:r="http://schemas.openxmlformats.org/officeDocument/2006/relationships" id="258" r:id="R1c84af80c32f416e"/>
    <p:sldId xmlns:r="http://schemas.openxmlformats.org/officeDocument/2006/relationships" id="259" r:id="R9b8d5414246a4c7f"/>
    <p:sldId xmlns:r="http://schemas.openxmlformats.org/officeDocument/2006/relationships" id="260" r:id="R93f21830502345f9"/>
    <p:sldId xmlns:r="http://schemas.openxmlformats.org/officeDocument/2006/relationships" id="261" r:id="R6d763ebdecb146b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13650cf59d14303" /><Relationship Type="http://schemas.openxmlformats.org/officeDocument/2006/relationships/slideMaster" Target="/ppt/slideMasters/slideMaster1.xml" Id="Rcba8aa4a90254c57" /><Relationship Type="http://schemas.openxmlformats.org/officeDocument/2006/relationships/notesMaster" Target="/ppt/notesMasters/notesMaster1.xml" Id="Rd34a07eee8f34000" /><Relationship Type="http://schemas.openxmlformats.org/officeDocument/2006/relationships/presProps" Target="/ppt/presProps.xml" Id="R431b336af4fb4ce7" /><Relationship Type="http://schemas.openxmlformats.org/officeDocument/2006/relationships/tableStyles" Target="/ppt/tableStyles.xml" Id="Racbbe7885666441d" /><Relationship Type="http://schemas.openxmlformats.org/officeDocument/2006/relationships/slide" Target="/ppt/slides/slide1.xml" Id="R6e2927323e08456b" /><Relationship Type="http://schemas.openxmlformats.org/officeDocument/2006/relationships/slide" Target="/ppt/slides/slide2.xml" Id="Rdeed495f33d344d0" /><Relationship Type="http://schemas.openxmlformats.org/officeDocument/2006/relationships/slide" Target="/ppt/slides/slide3.xml" Id="R1c84af80c32f416e" /><Relationship Type="http://schemas.openxmlformats.org/officeDocument/2006/relationships/slide" Target="/ppt/slides/slide4.xml" Id="R9b8d5414246a4c7f" /><Relationship Type="http://schemas.openxmlformats.org/officeDocument/2006/relationships/slide" Target="/ppt/slides/slide5.xml" Id="R93f21830502345f9" /><Relationship Type="http://schemas.openxmlformats.org/officeDocument/2006/relationships/slide" Target="/ppt/slides/slide6.xml" Id="R6d763ebdecb146b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4ca65298080425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334983e2c9543d7" /><Relationship Type="http://schemas.openxmlformats.org/officeDocument/2006/relationships/notesMaster" Target="/ppt/notesMasters/notesMaster1.xml" Id="R128c8b576751490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64c03e17ac44e47" /><Relationship Type="http://schemas.openxmlformats.org/officeDocument/2006/relationships/notesMaster" Target="/ppt/notesMasters/notesMaster1.xml" Id="R1c01749607e942b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c4077deb1c049c6" /><Relationship Type="http://schemas.openxmlformats.org/officeDocument/2006/relationships/notesMaster" Target="/ppt/notesMasters/notesMaster1.xml" Id="Rf9171930e4eb494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0f504b7c3be4754" /><Relationship Type="http://schemas.openxmlformats.org/officeDocument/2006/relationships/notesMaster" Target="/ppt/notesMasters/notesMaster1.xml" Id="Rffa31beff8f4402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fbae1bb12b1433c" /><Relationship Type="http://schemas.openxmlformats.org/officeDocument/2006/relationships/notesMaster" Target="/ppt/notesMasters/notesMaster1.xml" Id="R4d9d53afe39343e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c6e84909b5d4780" /><Relationship Type="http://schemas.openxmlformats.org/officeDocument/2006/relationships/notesMaster" Target="/ppt/notesMasters/notesMaster1.xml" Id="R14b5dac339a3448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來源：需求訪談內容與專案升級規格。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來源：需求訪談規格；本頁為流程概念圖，Package／DB 與 Core Tree 仍是獨立工作流。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來源：芯洲案件正式 CLI 執行結果。比較 attempt 保留為 Incomplete，completion receipt 與 delivery manifest 分別保存流程完成與交付完成證據。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05248565cf4eb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43796747a194449" /><Relationship Type="http://schemas.openxmlformats.org/officeDocument/2006/relationships/slideLayout" Target="/ppt/slideLayouts/slideLayout1.xml" Id="Re26cd5510c77485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26cd5510c77485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235162c1cc4f98" /><Relationship Type="http://schemas.openxmlformats.org/officeDocument/2006/relationships/notesSlide" Target="/ppt/notesSlides/notesSlide1.xml" Id="Rbe91aaf69f5e4d4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dd336a6f704b58" /><Relationship Type="http://schemas.openxmlformats.org/officeDocument/2006/relationships/notesSlide" Target="/ppt/notesSlides/notesSlide2.xml" Id="R6fb48542d1c6490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4f5fba290f48f3" /><Relationship Type="http://schemas.openxmlformats.org/officeDocument/2006/relationships/notesSlide" Target="/ppt/notesSlides/notesSlide3.xml" Id="R25d12844bda144e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368a0f2d734f66" /><Relationship Type="http://schemas.openxmlformats.org/officeDocument/2006/relationships/notesSlide" Target="/ppt/notesSlides/notesSlide4.xml" Id="R81c190118447449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e2d0eec053484a" /><Relationship Type="http://schemas.openxmlformats.org/officeDocument/2006/relationships/notesSlide" Target="/ppt/notesSlides/notesSlide5.xml" Id="Rd52f54d588a84ea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af0962606b49f0" /><Relationship Type="http://schemas.openxmlformats.org/officeDocument/2006/relationships/notesSlide" Target="/ppt/notesSlides/notesSlide6.xml" Id="R0a240878feb543c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04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7FE82E-2665-4530-9750-51F26EFDF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95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C87"/>
          </a:solidFill>
          <a:ln xmlns:a="http://schemas.openxmlformats.org/drawingml/2006/main" w="0">
            <a:solidFill>
              <a:srgbClr val="2D8C87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5941EF-D48B-4298-82EC-4FBE571A1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25730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階段性開發成果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71E8E9-8442-4B2B-A27B-EAFB98E2E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764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D9EA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D9EAF2"/>
                </a:solidFill>
                <a:latin typeface="Microsoft JhengHei"/>
                <a:ea typeface="Microsoft JhengHei"/>
                <a:cs typeface="Microsoft JhengHei"/>
              </a:rPr>
              <a:t>客戶環境升級與 Core Tree 整合交付流程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254440-D18D-47F1-A6D5-449878F66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6230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9CBD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A9CBD8"/>
                </a:solidFill>
                <a:latin typeface="Microsoft JhengHei"/>
                <a:ea typeface="Microsoft JhengHei"/>
                <a:cs typeface="Microsoft JhengHei"/>
              </a:rPr>
              <a:t>芯洲  |  11.0 SP9 → R38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F744E0-9762-4AB7-BCA0-819185D3B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810125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本階段成果：完成 Core Tree 比較程序與 A／B／C 交付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9F684E-7D6E-4EDB-9223-6233964CC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8102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9CBD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A9CBD8"/>
                </a:solidFill>
                <a:latin typeface="Microsoft JhengHei"/>
                <a:ea typeface="Microsoft JhengHei"/>
                <a:cs typeface="Microsoft JhengHei"/>
              </a:rPr>
              <a:t>BCO\kenny  ·  2026-09</a:t>
            </a:r>
          </a:p>
        </p:txBody>
      </p:sp>
    </p:spTree>
    <p:extLst>
      <p:ext uri="{BB962C8B-B14F-4D97-AF65-F5344CB8AC3E}">
        <p14:creationId xmlns:p14="http://schemas.microsoft.com/office/powerpoint/2010/main" val="16343871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85D7FB-0E81-4056-BFEB-4FC9249B7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30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23047"/>
                </a:solidFill>
                <a:latin typeface="Microsoft JhengHei"/>
                <a:ea typeface="Microsoft JhengHei"/>
                <a:cs typeface="Microsoft JhengHei"/>
              </a:rPr>
              <a:t>需求訪談形成的整體規格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B5D33F-89FC-4144-9CE2-DDEFDD03E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953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0727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0727D"/>
                </a:solidFill>
                <a:latin typeface="Microsoft JhengHei"/>
                <a:ea typeface="Microsoft JhengHei"/>
                <a:cs typeface="Microsoft JhengHei"/>
              </a:rPr>
              <a:t>規格名稱：客戶環境升級與 Core Tree 整合交付流程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FAE9E9-6B5D-4B0D-ACC6-8D0F70C94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49530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3F7F9"/>
          </a:solidFill>
          <a:ln xmlns:a="http://schemas.openxmlformats.org/drawingml/2006/main" w="0">
            <a:solidFill>
              <a:srgbClr val="F3F7F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3A7E43-241B-4968-B547-FA8CE503D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95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B6F9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2B6F9E"/>
                </a:solidFill>
                <a:latin typeface="Microsoft JhengHei"/>
                <a:ea typeface="Microsoft JhengHei"/>
                <a:cs typeface="Microsoft JhengHei"/>
              </a:rPr>
              <a:t>流程目標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3173E0-BF36-4856-B8D5-14BC7B560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FC1191-7D71-4363-954A-A1CF8E31E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190750"/>
            <a:ext cx="3971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定義來源版本升級至 R38 的標準作業流程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1F5AC9-8E1E-4CEF-BD05-DC5EC29E6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9560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961A78-DE4E-41A5-A819-16153F5BE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95600"/>
            <a:ext cx="3971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確保跳點依版本順序執行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FF59FA-7B8C-4DC0-8F0D-1E139CFC8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0045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E42191-DABE-45B8-8AA7-8D7B53E46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00450"/>
            <a:ext cx="3971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同時完成 R38 DB 與 Core Tree 最終交付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6A2972-E905-4460-B189-81DBA95A7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28750"/>
            <a:ext cx="54102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EEF7F6"/>
          </a:solidFill>
          <a:ln xmlns:a="http://schemas.openxmlformats.org/drawingml/2006/main" w="0">
            <a:solidFill>
              <a:srgbClr val="EEF7F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283AE6-7E09-41D2-A285-FC045677E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954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rPr>
              <a:t>適用範圍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67D366-CD5E-4E28-A2EE-4DACB2E74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9075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F0196D-1B81-4BE8-B6DB-83883377A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190750"/>
            <a:ext cx="440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客戶環境重建與客戶 Package 產生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C075FA-BD20-4B40-A60E-BF9A5F6F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9560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E23BD3-5365-43E5-9597-3B454388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895600"/>
            <a:ext cx="440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各跳點 Package 準備、核准與執行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97B348-3C72-473B-9F48-A9C9BD16F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0045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D33B13-D301-403F-B7F0-7A07A019F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00450"/>
            <a:ext cx="440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客戶 Core Tree 與 R38 OOTB 的比較、合併及交付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CAF332-E98E-4845-B4D2-3A38C9071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27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0727D"/>
                </a:solidFill>
                <a:latin typeface="Microsoft JhengHei"/>
                <a:ea typeface="Microsoft JhengHei"/>
                <a:cs typeface="Microsoft JhengHei"/>
              </a:rPr>
              <a:t>階段性開發成果  |  2/6</a:t>
            </a:r>
          </a:p>
        </p:txBody>
      </p:sp>
    </p:spTree>
    <p:extLst>
      <p:ext uri="{BB962C8B-B14F-4D97-AF65-F5344CB8AC3E}">
        <p14:creationId xmlns:p14="http://schemas.microsoft.com/office/powerpoint/2010/main" val="8864565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CD0E20D-7D2B-4B40-B367-68B44E210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30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23047"/>
                </a:solidFill>
                <a:latin typeface="Microsoft JhengHei"/>
                <a:ea typeface="Microsoft JhengHei"/>
                <a:cs typeface="Microsoft JhengHei"/>
              </a:rPr>
              <a:t>端到端升級與整合流程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621B62-929E-4D49-B8C0-20C1AA495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953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0727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0727D"/>
                </a:solidFill>
                <a:latin typeface="Microsoft JhengHei"/>
                <a:ea typeface="Microsoft JhengHei"/>
                <a:cs typeface="Microsoft JhengHei"/>
              </a:rPr>
              <a:t>Package／DB 與 Core Tree 分流準備，最終在交付階段整合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65311B-4E3C-4A19-AD8A-2D2852E58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12954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2B6F9E"/>
          </a:solidFill>
          <a:ln xmlns:a="http://schemas.openxmlformats.org/drawingml/2006/main" w="0">
            <a:solidFill>
              <a:srgbClr val="2B6F9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698394-06E1-42CF-9CBF-6AC37BD48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574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72F3E2-6CE0-4B21-8387-DD5A0673D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00350"/>
            <a:ext cx="1066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環境重建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B7380D-BE7E-48B1-B035-A7C3D45AB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838450"/>
            <a:ext cx="285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8"/>
          </a:solidFill>
          <a:ln xmlns:a="http://schemas.openxmlformats.org/drawingml/2006/main" w="0">
            <a:solidFill>
              <a:srgbClr val="D7E2E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471710-82C9-41AB-8CDA-0086BB470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333625"/>
            <a:ext cx="12954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2B6F9E"/>
          </a:solidFill>
          <a:ln xmlns:a="http://schemas.openxmlformats.org/drawingml/2006/main" w="0">
            <a:solidFill>
              <a:srgbClr val="2B6F9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128DAE-1598-4813-B5BC-46471709F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4574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A979CC-C90E-419E-8EC8-8A2D461D6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800350"/>
            <a:ext cx="1066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客戶 Package</a:t>
            </a:r>
          </a:p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基準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F83F00-18F0-478C-87A6-CE0E3EA1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38450"/>
            <a:ext cx="285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8"/>
          </a:solidFill>
          <a:ln xmlns:a="http://schemas.openxmlformats.org/drawingml/2006/main" w="0">
            <a:solidFill>
              <a:srgbClr val="D7E2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0C237C-EF1C-4369-A50C-EA0EB5922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333625"/>
            <a:ext cx="12954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6A23C"/>
          </a:solidFill>
          <a:ln xmlns:a="http://schemas.openxmlformats.org/drawingml/2006/main" w="0">
            <a:solidFill>
              <a:srgbClr val="E6A23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AC0AA3-99B7-42BF-9986-B9C47030B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4574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1806A1-00C5-4395-9E29-46F18415F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800350"/>
            <a:ext cx="1066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跳點 Package</a:t>
            </a:r>
          </a:p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準備與核准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62035D-C158-4C58-919D-5671FB74F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838450"/>
            <a:ext cx="285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8"/>
          </a:solidFill>
          <a:ln xmlns:a="http://schemas.openxmlformats.org/drawingml/2006/main" w="0">
            <a:solidFill>
              <a:srgbClr val="D7E2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21AFD0-FE38-45CB-82E6-76BB92614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333625"/>
            <a:ext cx="12954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6A23C"/>
          </a:solidFill>
          <a:ln xmlns:a="http://schemas.openxmlformats.org/drawingml/2006/main" w="0">
            <a:solidFill>
              <a:srgbClr val="E6A23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324681-DF95-4BDF-9469-51D42D567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4574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6A247D-090C-403C-AFE3-FEA4C0BB9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800350"/>
            <a:ext cx="1066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依序執行</a:t>
            </a:r>
          </a:p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DB 跳點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EF972A-1BDD-47B7-B3B8-69B18BD91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38450"/>
            <a:ext cx="285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8"/>
          </a:solidFill>
          <a:ln xmlns:a="http://schemas.openxmlformats.org/drawingml/2006/main" w="0">
            <a:solidFill>
              <a:srgbClr val="D7E2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26DFE6-5FE6-4097-8CC5-BCE929C75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333625"/>
            <a:ext cx="12954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6A23C"/>
          </a:solidFill>
          <a:ln xmlns:a="http://schemas.openxmlformats.org/drawingml/2006/main" w="0">
            <a:solidFill>
              <a:srgbClr val="E6A23C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DE512B-7727-47CC-A687-26CEE808F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4574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90BC75-77FC-4A90-B515-3B9479210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800350"/>
            <a:ext cx="1066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R38 DB</a:t>
            </a:r>
          </a:p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備份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F32569-9711-4BD4-B323-24F233BC7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38450"/>
            <a:ext cx="285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8"/>
          </a:solidFill>
          <a:ln xmlns:a="http://schemas.openxmlformats.org/drawingml/2006/main" w="0">
            <a:solidFill>
              <a:srgbClr val="D7E2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236B0C-0931-4881-AB09-100DBE54C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333625"/>
            <a:ext cx="12954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2D8C87"/>
          </a:solidFill>
          <a:ln xmlns:a="http://schemas.openxmlformats.org/drawingml/2006/main" w="0">
            <a:solidFill>
              <a:srgbClr val="2D8C87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53D874-765B-4198-BE66-BAE513C4D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574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DADD1F-67FD-4CF8-841D-456D39BC1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800350"/>
            <a:ext cx="1066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Core Tree</a:t>
            </a:r>
          </a:p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比較與分類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E3E43F-A3E8-49F2-9CC2-B0EC791B5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838450"/>
            <a:ext cx="285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8"/>
          </a:solidFill>
          <a:ln xmlns:a="http://schemas.openxmlformats.org/drawingml/2006/main" w="0">
            <a:solidFill>
              <a:srgbClr val="D7E2E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489A73-6011-4CFA-90B9-C4F0CFB14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333625"/>
            <a:ext cx="12954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2D8C87"/>
          </a:solidFill>
          <a:ln xmlns:a="http://schemas.openxmlformats.org/drawingml/2006/main" w="0">
            <a:solidFill>
              <a:srgbClr val="2D8C87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0137C3-99CD-4D2F-9E39-7274295DE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4574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7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91EAF1-B074-4183-9BE3-147D37165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800350"/>
            <a:ext cx="1066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人工確認與</a:t>
            </a:r>
          </a:p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最終交付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B058375-54F5-4D1B-906D-6C5361FA0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08204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8EA"/>
          </a:solidFill>
          <a:ln xmlns:a="http://schemas.openxmlformats.org/drawingml/2006/main" w="0">
            <a:solidFill>
              <a:srgbClr val="FFF8EA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60AC27-3A5C-4428-BB84-6FFB428F3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862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6A23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E6A23C"/>
                </a:solidFill>
                <a:latin typeface="Microsoft JhengHei"/>
                <a:ea typeface="Microsoft JhengHei"/>
                <a:cs typeface="Microsoft JhengHei"/>
              </a:rPr>
              <a:t>跳點順序關卡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01D3BC8-1652-4217-A9E7-40A9D741B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8625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11SP5 → 11SP15 → 12SP18 → R38；每一跳必須先完成 Package 產生、驗證、核准與執行結果確認。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24526C-55CA-4E49-AB4B-52BD01DEE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27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0727D"/>
                </a:solidFill>
                <a:latin typeface="Microsoft JhengHei"/>
                <a:ea typeface="Microsoft JhengHei"/>
                <a:cs typeface="Microsoft JhengHei"/>
              </a:rPr>
              <a:t>階段性開發成果  |  3/6</a:t>
            </a:r>
          </a:p>
        </p:txBody>
      </p:sp>
    </p:spTree>
    <p:extLst>
      <p:ext uri="{BB962C8B-B14F-4D97-AF65-F5344CB8AC3E}">
        <p14:creationId xmlns:p14="http://schemas.microsoft.com/office/powerpoint/2010/main" val="134355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3B0EA9-4D9F-4C76-9FD9-1FB1EF665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30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23047"/>
                </a:solidFill>
                <a:latin typeface="Microsoft JhengHei"/>
                <a:ea typeface="Microsoft JhengHei"/>
                <a:cs typeface="Microsoft JhengHei"/>
              </a:rPr>
              <a:t>關卡與證據設計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48FCC0-F06C-4243-916D-0F28C880B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953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0727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0727D"/>
                </a:solidFill>
                <a:latin typeface="Microsoft JhengHei"/>
                <a:ea typeface="Microsoft JhengHei"/>
                <a:cs typeface="Microsoft JhengHei"/>
              </a:rPr>
              <a:t>每個階段都有可追溯的輸入、判定與停止條件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BF9192-83F1-4D3B-92E5-E33E180EC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200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9"/>
          </a:solidFill>
          <a:ln xmlns:a="http://schemas.openxmlformats.org/drawingml/2006/main" w="0">
            <a:solidFill>
              <a:srgbClr val="F3F7F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576A25-401E-4E39-BCB5-343EC9230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476375"/>
            <a:ext cx="5429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3E6E3E-9289-48C1-A969-337E935B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476375"/>
            <a:ext cx="33909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FEF"/>
          </a:solidFill>
          <a:ln xmlns:a="http://schemas.openxmlformats.org/drawingml/2006/main" w="0">
            <a:solidFill>
              <a:srgbClr val="FBEFE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72C34C-006D-473F-88D5-5036F7824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6687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230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23047"/>
                </a:solidFill>
                <a:latin typeface="Microsoft JhengHei"/>
                <a:ea typeface="Microsoft JhengHei"/>
                <a:cs typeface="Microsoft JhengHei"/>
              </a:rPr>
              <a:t>輸入證據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23F9A8-57A1-42F5-91F4-B84677AB5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63830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三份 Core Tree、版本證據、完整性清單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9A19F3-8AA8-4F98-90B0-38E8352B1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6383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9A39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9A3940"/>
                </a:solidFill>
                <a:latin typeface="Microsoft JhengHei"/>
                <a:ea typeface="Microsoft JhengHei"/>
                <a:cs typeface="Microsoft JhengHei"/>
              </a:rPr>
              <a:t>缺失或不一致即停止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601CAC-A121-4FB5-BE35-20099F41F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05075"/>
            <a:ext cx="200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6"/>
          </a:solidFill>
          <a:ln xmlns:a="http://schemas.openxmlformats.org/drawingml/2006/main" w="0">
            <a:solidFill>
              <a:srgbClr val="EEF7F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D12AA0-952C-4414-B9CA-F53B1D910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505075"/>
            <a:ext cx="5429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3E2FD2-5DCB-4F2F-A4CD-1C43672FF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05075"/>
            <a:ext cx="33909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/>
          </a:solidFill>
          <a:ln xmlns:a="http://schemas.openxmlformats.org/drawingml/2006/main" w="0">
            <a:solidFill>
              <a:srgbClr val="FFF8E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41A1D6-E66A-4572-8550-A977DF5F9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9557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230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23047"/>
                </a:solidFill>
                <a:latin typeface="Microsoft JhengHei"/>
                <a:ea typeface="Microsoft JhengHei"/>
                <a:cs typeface="Microsoft JhengHei"/>
              </a:rPr>
              <a:t>Preflight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58CFDF-D610-495A-B427-47F089784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66700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版本、Client／Server 結構、路徑隔離、Server 規則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E4C250-C87E-4FAD-80AE-EBD7FA474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670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A621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8A621B"/>
                </a:solidFill>
                <a:latin typeface="Microsoft JhengHei"/>
                <a:ea typeface="Microsoft JhengHei"/>
                <a:cs typeface="Microsoft JhengHei"/>
              </a:rPr>
              <a:t>僅 Ready 可進入比較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DF1D0F-B0E5-42F1-A05E-730CD2DD4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33775"/>
            <a:ext cx="200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9"/>
          </a:solidFill>
          <a:ln xmlns:a="http://schemas.openxmlformats.org/drawingml/2006/main" w="0">
            <a:solidFill>
              <a:srgbClr val="F3F7F9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697C5E-95D0-4709-8AA8-A0C92E751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533775"/>
            <a:ext cx="5429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D734D2-850A-4A7E-9043-0CAA7722E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533775"/>
            <a:ext cx="33909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FEF"/>
          </a:solidFill>
          <a:ln xmlns:a="http://schemas.openxmlformats.org/drawingml/2006/main" w="0">
            <a:solidFill>
              <a:srgbClr val="FBEFE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4912D0-1831-4911-8301-2E6AFE90A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2427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230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23047"/>
                </a:solidFill>
                <a:latin typeface="Microsoft JhengHei"/>
                <a:ea typeface="Microsoft JhengHei"/>
                <a:cs typeface="Microsoft JhengHei"/>
              </a:rPr>
              <a:t>比較與 review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6D8C84-BE79-4CEB-BD7F-01744AA02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69570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A／B／C 分類、人工確認清單、不可變 attempt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A1D7C9-68A2-4E9A-A94D-7B1E798DE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6957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9A39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9A3940"/>
                </a:solidFill>
                <a:latin typeface="Microsoft JhengHei"/>
                <a:ea typeface="Microsoft JhengHei"/>
                <a:cs typeface="Microsoft JhengHei"/>
              </a:rPr>
              <a:t>未解決 review 不得完成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4501E9-BB74-408D-AC2B-9B50D3412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62475"/>
            <a:ext cx="200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6"/>
          </a:solidFill>
          <a:ln xmlns:a="http://schemas.openxmlformats.org/drawingml/2006/main" w="0">
            <a:solidFill>
              <a:srgbClr val="EEF7F6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AA15A6-8537-401B-A4D2-C0A3927F1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562475"/>
            <a:ext cx="5429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7D2B72-046A-4D60-879A-647BD5436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562475"/>
            <a:ext cx="33909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/>
          </a:solidFill>
          <a:ln xmlns:a="http://schemas.openxmlformats.org/drawingml/2006/main" w="0">
            <a:solidFill>
              <a:srgbClr val="FFF8E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3285F1-7738-4373-9DB9-6ACFAE188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5297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230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23047"/>
                </a:solidFill>
                <a:latin typeface="Microsoft JhengHei"/>
                <a:ea typeface="Microsoft JhengHei"/>
                <a:cs typeface="Microsoft JhengHei"/>
              </a:rPr>
              <a:t>最終交付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F17B2E-1F3A-4B3B-BD23-12C95A569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72440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Completion receipt、delivery manifest、檔案 checksum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277628-67B4-42EA-BE2E-37F651A48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7244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A621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8A621B"/>
                </a:solidFill>
                <a:latin typeface="Microsoft JhengHei"/>
                <a:ea typeface="Microsoft JhengHei"/>
                <a:cs typeface="Microsoft JhengHei"/>
              </a:rPr>
              <a:t>輸入與原始 attempt 保持 immutable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969F62-D019-466C-8565-2AC410189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531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0727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60727D"/>
                </a:solidFill>
                <a:latin typeface="Microsoft JhengHei"/>
                <a:ea typeface="Microsoft JhengHei"/>
                <a:cs typeface="Microsoft JhengHei"/>
              </a:rPr>
              <a:t>核心原則：輸入唯讀、輸出使用新目錄、歷程只追加，任何不確定性都保留為人工處置。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DA15A3-79AB-4E0C-A271-84248931F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27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0727D"/>
                </a:solidFill>
                <a:latin typeface="Microsoft JhengHei"/>
                <a:ea typeface="Microsoft JhengHei"/>
                <a:cs typeface="Microsoft JhengHei"/>
              </a:rPr>
              <a:t>階段性開發成果  |  4/6</a:t>
            </a:r>
          </a:p>
        </p:txBody>
      </p:sp>
    </p:spTree>
    <p:extLst>
      <p:ext uri="{BB962C8B-B14F-4D97-AF65-F5344CB8AC3E}">
        <p14:creationId xmlns:p14="http://schemas.microsoft.com/office/powerpoint/2010/main" val="16405505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CEBA2D-FD41-498D-A7F8-BCAC81C9B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30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23047"/>
                </a:solidFill>
                <a:latin typeface="Microsoft JhengHei"/>
                <a:ea typeface="Microsoft JhengHei"/>
                <a:cs typeface="Microsoft JhengHei"/>
              </a:rPr>
              <a:t>目前完成成果：Core Tree 比較程序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19FFCA-AB50-4898-BCAA-AD5ADFF10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953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0727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0727D"/>
                </a:solidFill>
                <a:latin typeface="Microsoft JhengHei"/>
                <a:ea typeface="Microsoft JhengHei"/>
                <a:cs typeface="Microsoft JhengHei"/>
              </a:rPr>
              <a:t>芯洲案件已完成從輸入證據到正式 A／B／C delivery 的流程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104430-00B7-493B-901F-8A8A55030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3143250" cy="3524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0">
            <a:solidFill>
              <a:srgbClr val="12304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1DE440-0657-46E1-984B-C47EA6EE0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335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已完成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589B17-8B54-4A4B-B215-48E0FD540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812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BDE4E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BDE4E1"/>
                </a:solidFill>
                <a:latin typeface="Microsoft JhengHei"/>
                <a:ea typeface="Microsoft JhengHei"/>
                <a:cs typeface="Microsoft JhengHei"/>
              </a:rPr>
              <a:t>Preflight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C6309B-7BAB-48CA-BCD4-89583FE2F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575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BDE4E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BDE4E1"/>
                </a:solidFill>
                <a:latin typeface="Microsoft JhengHei"/>
                <a:ea typeface="Microsoft JhengHei"/>
                <a:cs typeface="Microsoft JhengHei"/>
              </a:rPr>
              <a:t>Comparison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A9EEE8-D5AA-4497-A964-06F858F4B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337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BDE4E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BDE4E1"/>
                </a:solidFill>
                <a:latin typeface="Microsoft JhengHei"/>
                <a:ea typeface="Microsoft JhengHei"/>
                <a:cs typeface="Microsoft JhengHei"/>
              </a:rPr>
              <a:t>Review approval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97B0B7-92FB-4DF1-A173-3ECDCDCA1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100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BDE4E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BDE4E1"/>
                </a:solidFill>
                <a:latin typeface="Microsoft JhengHei"/>
                <a:ea typeface="Microsoft JhengHei"/>
                <a:cs typeface="Microsoft JhengHei"/>
              </a:rPr>
              <a:t>Finalization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E28431-0BE8-4A3E-B6BC-8EBE308FF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862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BDE4E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BDE4E1"/>
                </a:solidFill>
                <a:latin typeface="Microsoft JhengHei"/>
                <a:ea typeface="Microsoft JhengHei"/>
                <a:cs typeface="Microsoft JhengHei"/>
              </a:rPr>
              <a:t>A/B/C delivery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A293E0-41B3-4D8B-AFDC-42835F77E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428750"/>
            <a:ext cx="721995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3F7F9"/>
          </a:solidFill>
          <a:ln xmlns:a="http://schemas.openxmlformats.org/drawingml/2006/main" w="0">
            <a:solidFill>
              <a:srgbClr val="F3F7F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482934-6214-40A6-923F-396404B6D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7335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B6F9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2B6F9E"/>
                </a:solidFill>
                <a:latin typeface="Microsoft JhengHei"/>
                <a:ea typeface="Microsoft JhengHei"/>
                <a:cs typeface="Microsoft JhengHei"/>
              </a:rPr>
              <a:t>正式產出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E1638C-AB43-4424-9273-8CF09BB33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38125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rPr>
              <a:t>377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0827F1-4910-4DF6-B1A1-91B4D74FD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44792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A 類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1BA041-3888-4D0F-9519-6FD687AEB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38125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143E56-553F-4F6A-A294-4DE3D404A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44792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B 類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3C18AB-326C-4CD2-811B-05CE986F3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381375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rPr>
              <a:t>18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E40539-976A-4C52-B384-28B17B55A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4480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C 類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F8BC30-2F85-442E-BA1F-4C9AD53E0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381375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rPr>
              <a:t>462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701FAE-B9CE-4977-856B-BC991DF9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4480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交付檔案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A86A7A-9C2B-4167-AA7E-17F59409B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4767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人工 review：1 筆，已由 BCO\kenny 處置為 A。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3F35F9-EA36-48CC-B43B-15AC56612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27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0727D"/>
                </a:solidFill>
                <a:latin typeface="Microsoft JhengHei"/>
                <a:ea typeface="Microsoft JhengHei"/>
                <a:cs typeface="Microsoft JhengHei"/>
              </a:rPr>
              <a:t>階段性開發成果  |  5/6</a:t>
            </a:r>
          </a:p>
        </p:txBody>
      </p:sp>
    </p:spTree>
    <p:extLst>
      <p:ext uri="{BB962C8B-B14F-4D97-AF65-F5344CB8AC3E}">
        <p14:creationId xmlns:p14="http://schemas.microsoft.com/office/powerpoint/2010/main" val="1670827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75900A-73A9-4CA2-A71F-77D429698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30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23047"/>
                </a:solidFill>
                <a:latin typeface="Microsoft JhengHei"/>
                <a:ea typeface="Microsoft JhengHei"/>
                <a:cs typeface="Microsoft JhengHei"/>
              </a:rPr>
              <a:t>產出物與後續工作邊界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710C25-DCED-4A0F-863A-48AB652B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953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0727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0727D"/>
                </a:solidFill>
                <a:latin typeface="Microsoft JhengHei"/>
                <a:ea typeface="Microsoft JhengHei"/>
                <a:cs typeface="Microsoft JhengHei"/>
              </a:rPr>
              <a:t>本階段完成 Core Tree 交付，Package／DB 升級仍需獨立流程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CD60C7-C9BB-444F-8B83-2EA6BA7A3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50482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EEF7F6"/>
          </a:solidFill>
          <a:ln xmlns:a="http://schemas.openxmlformats.org/drawingml/2006/main" w="0">
            <a:solidFill>
              <a:srgbClr val="EEF7F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538EFE-5BFA-4B49-929B-0303B93A9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3355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rPr>
              <a:t>本階段產出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2419B5-CC2C-43B2-BAA2-8D207E02B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8600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9C2AA8-72B1-45AD-9B1F-91C5E3286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286000"/>
            <a:ext cx="401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正式案件清單與 Core Tree 設定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8449A7-C743-47A7-8C4C-34AA522EA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24175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1BF635-1847-4901-BFB9-72E34837B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24175"/>
            <a:ext cx="401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三組輸入 Evidence Set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20954A-6F97-445B-BB83-B2A39C686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6235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7576A3-928F-4772-9620-4EAF37904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62350"/>
            <a:ext cx="401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比較 attempt、review approval 與 completion receipt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BE99A0-A81A-4658-BAB2-8A5E7D877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00525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E5A50D-3CF6-49FD-830B-39C541FB7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00525"/>
            <a:ext cx="401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A／B／C delivery 與 delivery manifest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BF788A-2DEC-48A1-BF8C-3D969A4D7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53149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8EA"/>
          </a:solidFill>
          <a:ln xmlns:a="http://schemas.openxmlformats.org/drawingml/2006/main" w="0">
            <a:solidFill>
              <a:srgbClr val="FFF8E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5D13C0-20FD-43BF-AF2B-86F4AB80E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335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6A23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E6A23C"/>
                </a:solidFill>
                <a:latin typeface="Microsoft JhengHei"/>
                <a:ea typeface="Microsoft JhengHei"/>
                <a:cs typeface="Microsoft JhengHei"/>
              </a:rPr>
              <a:t>後續仍需處理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70B449-335A-4363-86E5-E5D94E8FA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8600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BECF9A-F6AA-4130-BEA1-405290D26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86000"/>
            <a:ext cx="421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依正式 SOP 建立並驗證 Package／DB 跳點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FB7400-E81E-42C0-95A2-E5ECFE207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4800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646DD8-E45B-41C7-867E-CD1EC58B9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48000"/>
            <a:ext cx="421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保存每跳 DB 備份、登入驗證與執行紀錄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045F2B-89AA-44C8-941F-18474342C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81000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713A35-D391-45B3-ACB3-AC3A4C5E6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10000"/>
            <a:ext cx="421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由操作人員執行最終環境整合與驗收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2F70A2-53F3-4BBF-BFF2-1D60A8FAD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340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230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23047"/>
                </a:solidFill>
                <a:latin typeface="Microsoft JhengHei"/>
                <a:ea typeface="Microsoft JhengHei"/>
                <a:cs typeface="Microsoft JhengHei"/>
              </a:rPr>
              <a:t>結論：Core Tree 比較程序已具備可追溯、可核驗的正式產出。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11B8A7-C788-4944-95FF-2B6A7CB97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27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0727D"/>
                </a:solidFill>
                <a:latin typeface="Microsoft JhengHei"/>
                <a:ea typeface="Microsoft JhengHei"/>
                <a:cs typeface="Microsoft JhengHei"/>
              </a:rPr>
              <a:t>階段性開發成果  |  6/6</a:t>
            </a:r>
          </a:p>
        </p:txBody>
      </p:sp>
    </p:spTree>
    <p:extLst>
      <p:ext uri="{BB962C8B-B14F-4D97-AF65-F5344CB8AC3E}">
        <p14:creationId xmlns:p14="http://schemas.microsoft.com/office/powerpoint/2010/main" val="18140262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2026-09-07T03:40:17.3470000Z</dcterms:created>
  <dcterms:modified xsi:type="dcterms:W3CDTF">2026-09-07T03:40:17.3470000Z</dcterms:modified>
</coreProperties>
</file>